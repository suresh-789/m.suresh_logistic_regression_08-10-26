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e78fa12-936a-38b2-fc90-74fb912016eb}">
          <p14:sldIdLst>
            <p14:sldId id="256"/>
            <p14:sldId id="257"/>
            <p14:sldId id="258"/>
            <p14:sldId id="259"/>
          </p14:sldIdLst>
        </p14:section>
        <p14:section name="Method" id="{9c82df32-f5ab-7528-a880-71311a698662}">
          <p14:sldIdLst>
            <p14:sldId id="260"/>
            <p14:sldId id="261"/>
            <p14:sldId id="262"/>
          </p14:sldIdLst>
        </p14:section>
        <p14:section name="Results" id="{1d0b10c8-2df0-7408-bcda-e721aad9c9b2}">
          <p14:sldIdLst>
            <p14:sldId id="263"/>
            <p14:sldId id="264"/>
            <p14:sldId id="265"/>
            <p14:sldId id="266"/>
            <p14:sldId id="267"/>
          </p14:sldIdLst>
        </p14:section>
        <p14:section name="Conclusion" id="{a9115786-4973-3ac8-eced-3437a4bf548c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+mn-lt"/>
              </a:rPr>
              <a:t>Customers by churn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6B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2B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+mn-lt"/>
              </a:rPr>
              <a:t>Recall and F1-score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0.50 threshold</c:v>
                </c:pt>
              </c:strCache>
            </c:strRef>
          </c:tx>
          <c:spPr>
            <a:solidFill>
              <a:srgbClr val="8D8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Recall</c:v>
                  </c:pt>
                  <c:pt idx="1">
                    <c:v>F1-score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0.40 threshold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Recall</c:v>
                  </c:pt>
                  <c:pt idx="1">
                    <c:v>F1-score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65</c:v>
                </c:pt>
                <c:pt idx="1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B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1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B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2B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Telco Customer Churn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Telco Customer Churn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Calibo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Prediction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to identify customers at risk of leaving</a:t>
            </a:r>
            <a:endParaRPr lang="en-US" sz="1600" dirty="0"/>
          </a:p>
        </p:txBody>
      </p:sp>
      <p:sp>
        <p:nvSpPr>
          <p:cNvPr id="5" name="Presenter card"/>
          <p:cNvSpPr/>
          <p:nvPr/>
        </p:nvSpPr>
        <p:spPr>
          <a:xfrm>
            <a:off x="548640" y="3474720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6" name="Presenter circle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7" name="Image 0" descr="Pres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8633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Suresh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2300030390</a:t>
            </a:r>
            <a:endParaRPr lang="en-US" sz="1600" dirty="0"/>
          </a:p>
        </p:txBody>
      </p:sp>
      <p:sp>
        <p:nvSpPr>
          <p:cNvPr id="10" name="Violet circle"/>
          <p:cNvSpPr/>
          <p:nvPr/>
        </p:nvSpPr>
        <p:spPr>
          <a:xfrm>
            <a:off x="5943600" y="822960"/>
            <a:ext cx="2377440" cy="2377440"/>
          </a:xfrm>
          <a:prstGeom prst="ellipse">
            <a:avLst/>
          </a:prstGeom>
          <a:solidFill>
            <a:schemeClr val="accent4">
              <a:alpha val="75000"/>
            </a:schemeClr>
          </a:solidFill>
          <a:ln/>
        </p:spPr>
      </p:sp>
      <p:sp>
        <p:nvSpPr>
          <p:cNvPr id="11" name="Coral circle"/>
          <p:cNvSpPr/>
          <p:nvPr/>
        </p:nvSpPr>
        <p:spPr>
          <a:xfrm>
            <a:off x="6766560" y="1828800"/>
            <a:ext cx="2011680" cy="20116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12" name="Teal circle"/>
          <p:cNvSpPr/>
          <p:nvPr/>
        </p:nvSpPr>
        <p:spPr>
          <a:xfrm>
            <a:off x="6126480" y="2743200"/>
            <a:ext cx="1645920" cy="164592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  <p:pic>
        <p:nvPicPr>
          <p:cNvPr id="13" name="Image 1" descr="Group of custo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2402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Problem</a:t>
            </a:r>
            <a:endParaRPr lang="en-US" sz="3400" dirty="0"/>
          </a:p>
        </p:txBody>
      </p:sp>
      <p:sp>
        <p:nvSpPr>
          <p:cNvPr id="3" name="Problem 1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Problem icon 1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Proble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loss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874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causes recurring revenue loss and increases customer acquisition costs.</a:t>
            </a:r>
            <a:endParaRPr lang="en-US" sz="1400" dirty="0"/>
          </a:p>
        </p:txBody>
      </p:sp>
      <p:sp>
        <p:nvSpPr>
          <p:cNvPr id="8" name="Problem 2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Problem icon 2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0" name="Image 1" descr="Proble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risk early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identify customers likely to leave before they churn.</a:t>
            </a:r>
            <a:endParaRPr lang="en-US" sz="1400" dirty="0"/>
          </a:p>
        </p:txBody>
      </p:sp>
      <p:sp>
        <p:nvSpPr>
          <p:cNvPr id="13" name="Problem 3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Problem icon 3 circle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Problem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061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and class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should estimate churn probability and classify customers as likely to churn or stay.</a:t>
            </a:r>
            <a:endParaRPr lang="en-US" sz="1400" dirty="0"/>
          </a:p>
        </p:txBody>
      </p:sp>
      <p:sp>
        <p:nvSpPr>
          <p:cNvPr id="18" name="Problem 4"/>
          <p:cNvSpPr/>
          <p:nvPr/>
        </p:nvSpPr>
        <p:spPr>
          <a:xfrm>
            <a:off x="46634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Problem icon 4 circle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0" name="Image 3" descr="Problem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061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retention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should support proactive and targeted retention offers.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</a:t>
            </a:r>
            <a:endParaRPr lang="en-US" sz="1600" dirty="0"/>
          </a:p>
        </p:txBody>
      </p:sp>
      <p:sp>
        <p:nvSpPr>
          <p:cNvPr id="4" name="Stat Customers"/>
          <p:cNvSpPr/>
          <p:nvPr/>
        </p:nvSpPr>
        <p:spPr>
          <a:xfrm>
            <a:off x="548640" y="150876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7" name="Stat Original columns"/>
          <p:cNvSpPr/>
          <p:nvPr/>
        </p:nvSpPr>
        <p:spPr>
          <a:xfrm>
            <a:off x="2606040" y="150876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400" dirty="0"/>
          </a:p>
        </p:txBody>
      </p:sp>
      <p:sp>
        <p:nvSpPr>
          <p:cNvPr id="10" name="Stat Churned customers"/>
          <p:cNvSpPr/>
          <p:nvPr/>
        </p:nvSpPr>
        <p:spPr>
          <a:xfrm>
            <a:off x="4663440" y="150876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400" dirty="0"/>
          </a:p>
        </p:txBody>
      </p:sp>
      <p:sp>
        <p:nvSpPr>
          <p:cNvPr id="13" name="Stat Churn rate"/>
          <p:cNvSpPr/>
          <p:nvPr/>
        </p:nvSpPr>
        <p:spPr>
          <a:xfrm>
            <a:off x="6720840" y="1508760"/>
            <a:ext cx="1874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6" name="Customer information panel"/>
          <p:cNvSpPr/>
          <p:nvPr/>
        </p:nvSpPr>
        <p:spPr>
          <a:xfrm>
            <a:off x="548640" y="3200400"/>
            <a:ext cx="49377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301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services, contract, billing and payment details.</a:t>
            </a:r>
            <a:endParaRPr lang="en-US" sz="1600" dirty="0"/>
          </a:p>
        </p:txBody>
      </p:sp>
      <p:sp>
        <p:nvSpPr>
          <p:cNvPr id="19" name="Target panel"/>
          <p:cNvSpPr/>
          <p:nvPr/>
        </p:nvSpPr>
        <p:spPr>
          <a:xfrm>
            <a:off x="5669280" y="3200400"/>
            <a:ext cx="29260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978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</a:t>
            </a:r>
            <a:endParaRPr lang="en-US" sz="1200" dirty="0"/>
          </a:p>
        </p:txBody>
      </p:sp>
      <p:sp>
        <p:nvSpPr>
          <p:cNvPr id="21" name="No = Stay chip"/>
          <p:cNvSpPr/>
          <p:nvPr/>
        </p:nvSpPr>
        <p:spPr>
          <a:xfrm>
            <a:off x="5897880" y="3749040"/>
            <a:ext cx="109728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97880" y="3749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= Stay</a:t>
            </a:r>
            <a:endParaRPr lang="en-US" sz="1400" dirty="0"/>
          </a:p>
        </p:txBody>
      </p:sp>
      <p:sp>
        <p:nvSpPr>
          <p:cNvPr id="23" name="Yes = Churn chip"/>
          <p:cNvSpPr/>
          <p:nvPr/>
        </p:nvSpPr>
        <p:spPr>
          <a:xfrm>
            <a:off x="7132320" y="3749040"/>
            <a:ext cx="1325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3749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= Churn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Churn Distribution</a:t>
            </a:r>
            <a:endParaRPr lang="en-US" sz="3400" dirty="0"/>
          </a:p>
        </p:txBody>
      </p:sp>
      <p:sp>
        <p:nvSpPr>
          <p:cNvPr id="3" name="Chart card"/>
          <p:cNvSpPr/>
          <p:nvPr/>
        </p:nvSpPr>
        <p:spPr>
          <a:xfrm>
            <a:off x="548640" y="1280160"/>
            <a:ext cx="49377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3716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of customers stayed."/>
          <p:cNvSpPr/>
          <p:nvPr/>
        </p:nvSpPr>
        <p:spPr>
          <a:xfrm>
            <a:off x="5760720" y="1280160"/>
            <a:ext cx="2834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0" y="12801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73.46%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280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stayed.</a:t>
            </a:r>
            <a:endParaRPr lang="en-US" sz="1400" dirty="0"/>
          </a:p>
        </p:txBody>
      </p:sp>
      <p:sp>
        <p:nvSpPr>
          <p:cNvPr id="8" name="of customers churned."/>
          <p:cNvSpPr/>
          <p:nvPr/>
        </p:nvSpPr>
        <p:spPr>
          <a:xfrm>
            <a:off x="5760720" y="2377440"/>
            <a:ext cx="2834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0" y="23774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3774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churned.</a:t>
            </a:r>
            <a:endParaRPr lang="en-US" sz="1400" dirty="0"/>
          </a:p>
        </p:txBody>
      </p:sp>
      <p:sp>
        <p:nvSpPr>
          <p:cNvPr id="11" name="Imbalance callout"/>
          <p:cNvSpPr/>
          <p:nvPr/>
        </p:nvSpPr>
        <p:spPr>
          <a:xfrm>
            <a:off x="5760720" y="3474720"/>
            <a:ext cx="28346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34747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somewhat imbalanced.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Preprocessing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Number 1"/>
          <p:cNvSpPr/>
          <p:nvPr/>
        </p:nvSpPr>
        <p:spPr>
          <a:xfrm>
            <a:off x="713232" y="13716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TotalCharges from string/object to numeric format.</a:t>
            </a:r>
            <a:endParaRPr lang="en-US" sz="1600" dirty="0"/>
          </a:p>
        </p:txBody>
      </p:sp>
      <p:sp>
        <p:nvSpPr>
          <p:cNvPr id="7" name="Step 2"/>
          <p:cNvSpPr/>
          <p:nvPr/>
        </p:nvSpPr>
        <p:spPr>
          <a:xfrm>
            <a:off x="548640" y="1956816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Number 2"/>
          <p:cNvSpPr/>
          <p:nvPr/>
        </p:nvSpPr>
        <p:spPr>
          <a:xfrm>
            <a:off x="713232" y="2048256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5681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exposed 11 blank/non-numeric values as missing values.</a:t>
            </a:r>
            <a:endParaRPr lang="en-US" sz="1600" dirty="0"/>
          </a:p>
        </p:txBody>
      </p:sp>
      <p:sp>
        <p:nvSpPr>
          <p:cNvPr id="11" name="Step 3"/>
          <p:cNvSpPr/>
          <p:nvPr/>
        </p:nvSpPr>
        <p:spPr>
          <a:xfrm>
            <a:off x="548640" y="2633472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Number 3"/>
          <p:cNvSpPr/>
          <p:nvPr/>
        </p:nvSpPr>
        <p:spPr>
          <a:xfrm>
            <a:off x="713232" y="2724912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3347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the 11 missing TotalCharges values using the median.</a:t>
            </a:r>
            <a:endParaRPr lang="en-US" sz="1600" dirty="0"/>
          </a:p>
        </p:txBody>
      </p:sp>
      <p:sp>
        <p:nvSpPr>
          <p:cNvPr id="15" name="Step 4"/>
          <p:cNvSpPr/>
          <p:nvPr/>
        </p:nvSpPr>
        <p:spPr>
          <a:xfrm>
            <a:off x="548640" y="3310128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Number 4"/>
          <p:cNvSpPr/>
          <p:nvPr/>
        </p:nvSpPr>
        <p:spPr>
          <a:xfrm>
            <a:off x="713232" y="340156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101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Churn: No → 0 (Stay), Yes → 1 (Churn).</a:t>
            </a:r>
            <a:endParaRPr lang="en-US" sz="1600" dirty="0"/>
          </a:p>
        </p:txBody>
      </p:sp>
      <p:sp>
        <p:nvSpPr>
          <p:cNvPr id="19" name="Step 5"/>
          <p:cNvSpPr/>
          <p:nvPr/>
        </p:nvSpPr>
        <p:spPr>
          <a:xfrm>
            <a:off x="548640" y="3986784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Number 5"/>
          <p:cNvSpPr/>
          <p:nvPr/>
        </p:nvSpPr>
        <p:spPr>
          <a:xfrm>
            <a:off x="713232" y="40782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98678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one-hot encoding to categorical features.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Feature Selection &amp; Encoding</a:t>
            </a:r>
            <a:endParaRPr lang="en-US" sz="3400" dirty="0"/>
          </a:p>
        </p:txBody>
      </p:sp>
      <p:sp>
        <p:nvSpPr>
          <p:cNvPr id="3" name="Selected features card"/>
          <p:cNvSpPr/>
          <p:nvPr/>
        </p:nvSpPr>
        <p:spPr>
          <a:xfrm>
            <a:off x="548640" y="1280160"/>
            <a:ext cx="804672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INPUT FEATURES</a:t>
            </a:r>
            <a:endParaRPr lang="en-US" sz="1200" dirty="0"/>
          </a:p>
        </p:txBody>
      </p:sp>
      <p:sp>
        <p:nvSpPr>
          <p:cNvPr id="5" name="SeniorCitizen chip"/>
          <p:cNvSpPr/>
          <p:nvPr/>
        </p:nvSpPr>
        <p:spPr>
          <a:xfrm>
            <a:off x="777240" y="1783080"/>
            <a:ext cx="1495044" cy="4023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495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400" dirty="0"/>
          </a:p>
        </p:txBody>
      </p:sp>
      <p:sp>
        <p:nvSpPr>
          <p:cNvPr id="7" name="tenure chip"/>
          <p:cNvSpPr/>
          <p:nvPr/>
        </p:nvSpPr>
        <p:spPr>
          <a:xfrm>
            <a:off x="2382012" y="1783080"/>
            <a:ext cx="886968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82012" y="1783080"/>
            <a:ext cx="886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400" dirty="0"/>
          </a:p>
        </p:txBody>
      </p:sp>
      <p:sp>
        <p:nvSpPr>
          <p:cNvPr id="9" name="MonthlyCharges chip"/>
          <p:cNvSpPr/>
          <p:nvPr/>
        </p:nvSpPr>
        <p:spPr>
          <a:xfrm>
            <a:off x="3378708" y="1783080"/>
            <a:ext cx="1581912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78708" y="1783080"/>
            <a:ext cx="1581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400" dirty="0"/>
          </a:p>
        </p:txBody>
      </p:sp>
      <p:sp>
        <p:nvSpPr>
          <p:cNvPr id="11" name="TotalCharges chip"/>
          <p:cNvSpPr/>
          <p:nvPr/>
        </p:nvSpPr>
        <p:spPr>
          <a:xfrm>
            <a:off x="5070348" y="1783080"/>
            <a:ext cx="1408176" cy="4023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0348" y="178308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400" dirty="0"/>
          </a:p>
        </p:txBody>
      </p:sp>
      <p:sp>
        <p:nvSpPr>
          <p:cNvPr id="13" name="gender chip"/>
          <p:cNvSpPr/>
          <p:nvPr/>
        </p:nvSpPr>
        <p:spPr>
          <a:xfrm>
            <a:off x="6588252" y="1783080"/>
            <a:ext cx="886968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8252" y="1783080"/>
            <a:ext cx="886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15" name="Partner chip"/>
          <p:cNvSpPr/>
          <p:nvPr/>
        </p:nvSpPr>
        <p:spPr>
          <a:xfrm>
            <a:off x="777240" y="2286000"/>
            <a:ext cx="973836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286000"/>
            <a:ext cx="9738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400" dirty="0"/>
          </a:p>
        </p:txBody>
      </p:sp>
      <p:sp>
        <p:nvSpPr>
          <p:cNvPr id="17" name="Dependents chip"/>
          <p:cNvSpPr/>
          <p:nvPr/>
        </p:nvSpPr>
        <p:spPr>
          <a:xfrm>
            <a:off x="1860804" y="2286000"/>
            <a:ext cx="1234440" cy="4023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60804" y="228600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400" dirty="0"/>
          </a:p>
        </p:txBody>
      </p:sp>
      <p:sp>
        <p:nvSpPr>
          <p:cNvPr id="19" name="PhoneService chip"/>
          <p:cNvSpPr/>
          <p:nvPr/>
        </p:nvSpPr>
        <p:spPr>
          <a:xfrm>
            <a:off x="3204972" y="2286000"/>
            <a:ext cx="140817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4972" y="22860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</a:t>
            </a:r>
            <a:endParaRPr lang="en-US" sz="1400" dirty="0"/>
          </a:p>
        </p:txBody>
      </p:sp>
      <p:sp>
        <p:nvSpPr>
          <p:cNvPr id="21" name="InternetService chip"/>
          <p:cNvSpPr/>
          <p:nvPr/>
        </p:nvSpPr>
        <p:spPr>
          <a:xfrm>
            <a:off x="4722876" y="2286000"/>
            <a:ext cx="166878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22876" y="2286000"/>
            <a:ext cx="16687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1400" dirty="0"/>
          </a:p>
        </p:txBody>
      </p:sp>
      <p:sp>
        <p:nvSpPr>
          <p:cNvPr id="23" name="Contract chip"/>
          <p:cNvSpPr/>
          <p:nvPr/>
        </p:nvSpPr>
        <p:spPr>
          <a:xfrm>
            <a:off x="6501384" y="2286000"/>
            <a:ext cx="1060704" cy="4023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01384" y="228600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400" dirty="0"/>
          </a:p>
        </p:txBody>
      </p:sp>
      <p:sp>
        <p:nvSpPr>
          <p:cNvPr id="25" name="PaperlessBilling chip"/>
          <p:cNvSpPr/>
          <p:nvPr/>
        </p:nvSpPr>
        <p:spPr>
          <a:xfrm>
            <a:off x="777240" y="2788920"/>
            <a:ext cx="1755648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2788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PaperlessBilling</a:t>
            </a:r>
            <a:endParaRPr lang="en-US" sz="1400" dirty="0"/>
          </a:p>
        </p:txBody>
      </p:sp>
      <p:sp>
        <p:nvSpPr>
          <p:cNvPr id="27" name="PaymentMethod chip"/>
          <p:cNvSpPr/>
          <p:nvPr/>
        </p:nvSpPr>
        <p:spPr>
          <a:xfrm>
            <a:off x="2642616" y="2788920"/>
            <a:ext cx="1495044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642616" y="2788920"/>
            <a:ext cx="1495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400" dirty="0"/>
          </a:p>
        </p:txBody>
      </p:sp>
      <p:sp>
        <p:nvSpPr>
          <p:cNvPr id="29" name="Selected tile"/>
          <p:cNvSpPr/>
          <p:nvPr/>
        </p:nvSpPr>
        <p:spPr>
          <a:xfrm>
            <a:off x="548640" y="3520440"/>
            <a:ext cx="21031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3152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attributes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52044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Encoding tile"/>
          <p:cNvSpPr/>
          <p:nvPr/>
        </p:nvSpPr>
        <p:spPr>
          <a:xfrm>
            <a:off x="3108960" y="3520440"/>
            <a:ext cx="27432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291840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converted categorical variables into numerical features.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352044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Final tile"/>
          <p:cNvSpPr/>
          <p:nvPr/>
        </p:nvSpPr>
        <p:spPr>
          <a:xfrm>
            <a:off x="6309360" y="3520440"/>
            <a:ext cx="22860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050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features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records × 16 features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Building</a:t>
            </a:r>
            <a:endParaRPr lang="en-US" sz="3400" dirty="0"/>
          </a:p>
        </p:txBody>
      </p:sp>
      <p:sp>
        <p:nvSpPr>
          <p:cNvPr id="3" name="Data split card"/>
          <p:cNvSpPr/>
          <p:nvPr/>
        </p:nvSpPr>
        <p:spPr>
          <a:xfrm>
            <a:off x="548640" y="128016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5,634 customers (80%)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data: </a:t>
            </a:r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 customers (20%)</a:t>
            </a:r>
            <a:endParaRPr lang="en-US" sz="1600" dirty="0"/>
          </a:p>
        </p:txBody>
      </p:sp>
      <p:sp>
        <p:nvSpPr>
          <p:cNvPr id="6" name="Training bar"/>
          <p:cNvSpPr/>
          <p:nvPr/>
        </p:nvSpPr>
        <p:spPr>
          <a:xfrm>
            <a:off x="777240" y="1874520"/>
            <a:ext cx="75895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7" name="Testing bar"/>
          <p:cNvSpPr/>
          <p:nvPr/>
        </p:nvSpPr>
        <p:spPr>
          <a:xfrm>
            <a:off x="6848856" y="1874520"/>
            <a:ext cx="1517904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48856" y="1874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10" name="Model card 1"/>
          <p:cNvSpPr/>
          <p:nvPr/>
        </p:nvSpPr>
        <p:spPr>
          <a:xfrm>
            <a:off x="548640" y="288036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1" name="Model icon 1 circle"/>
          <p:cNvSpPr/>
          <p:nvPr/>
        </p:nvSpPr>
        <p:spPr>
          <a:xfrm>
            <a:off x="731520" y="2999232"/>
            <a:ext cx="457200" cy="45720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2" name="Image 0" descr="Model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3113532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" y="3520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587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used to predict customer churn.</a:t>
            </a:r>
            <a:endParaRPr lang="en-US" sz="1400" dirty="0"/>
          </a:p>
        </p:txBody>
      </p:sp>
      <p:sp>
        <p:nvSpPr>
          <p:cNvPr id="15" name="Model card 2"/>
          <p:cNvSpPr/>
          <p:nvPr/>
        </p:nvSpPr>
        <p:spPr>
          <a:xfrm>
            <a:off x="3291840" y="288036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Model icon 2 circle"/>
          <p:cNvSpPr/>
          <p:nvPr/>
        </p:nvSpPr>
        <p:spPr>
          <a:xfrm>
            <a:off x="3474720" y="299923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1" descr="Model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311353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3520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474720" y="38587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scale features and improve convergence.</a:t>
            </a:r>
            <a:endParaRPr lang="en-US" sz="1400" dirty="0"/>
          </a:p>
        </p:txBody>
      </p:sp>
      <p:sp>
        <p:nvSpPr>
          <p:cNvPr id="20" name="Model card 3"/>
          <p:cNvSpPr/>
          <p:nvPr/>
        </p:nvSpPr>
        <p:spPr>
          <a:xfrm>
            <a:off x="6035040" y="288036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Model icon 3 circle"/>
          <p:cNvSpPr/>
          <p:nvPr/>
        </p:nvSpPr>
        <p:spPr>
          <a:xfrm>
            <a:off x="6217920" y="299923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2" name="Image 2" descr="Model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3113532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3520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outputs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38587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both a class prediction and a probability of churn.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Evaluation — Threshold 0.50</a:t>
            </a:r>
            <a:endParaRPr lang="en-US" sz="3400" dirty="0"/>
          </a:p>
        </p:txBody>
      </p:sp>
      <p:sp>
        <p:nvSpPr>
          <p:cNvPr id="3" name="Accuracy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79.56%</a:t>
            </a:r>
            <a:endParaRPr lang="en-US" sz="3000" dirty="0"/>
          </a:p>
        </p:txBody>
      </p:sp>
      <p:sp>
        <p:nvSpPr>
          <p:cNvPr id="6" name="Churn Precision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889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000" dirty="0"/>
          </a:p>
        </p:txBody>
      </p:sp>
      <p:sp>
        <p:nvSpPr>
          <p:cNvPr id="9" name="Churn Recall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3000" dirty="0"/>
          </a:p>
        </p:txBody>
      </p:sp>
      <p:sp>
        <p:nvSpPr>
          <p:cNvPr id="12" name="Churn F1-score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F1-score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</a:t>
            </a:r>
            <a:endParaRPr lang="en-US" sz="3000" dirty="0"/>
          </a:p>
        </p:txBody>
      </p:sp>
      <p:sp>
        <p:nvSpPr>
          <p:cNvPr id="15" name="Insight 1"/>
          <p:cNvSpPr/>
          <p:nvPr/>
        </p:nvSpPr>
        <p:spPr>
          <a:xfrm>
            <a:off x="548640" y="31089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Insight icon 1 circle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7" name="Image 0" descr="Insigh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8760" y="3108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sufficient because the business is specifically interested in identifying churners.</a:t>
            </a:r>
            <a:endParaRPr lang="en-US" sz="1400" dirty="0"/>
          </a:p>
        </p:txBody>
      </p:sp>
      <p:sp>
        <p:nvSpPr>
          <p:cNvPr id="19" name="Insight 2"/>
          <p:cNvSpPr/>
          <p:nvPr/>
        </p:nvSpPr>
        <p:spPr>
          <a:xfrm>
            <a:off x="4663440" y="31089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Insight icon 2 circle"/>
          <p:cNvSpPr/>
          <p:nvPr/>
        </p:nvSpPr>
        <p:spPr>
          <a:xfrm>
            <a:off x="4892040" y="361188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1" name="Image 1" descr="Insigh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7490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23560" y="3108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 is especially important because missed churners represent potential lost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Confusion Matrix — Threshold 0.50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11880" y="1280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Churn</a:t>
            </a:r>
            <a:endParaRPr lang="en-US" sz="1400" dirty="0"/>
          </a:p>
        </p:txBody>
      </p:sp>
      <p:sp>
        <p:nvSpPr>
          <p:cNvPr id="7" name="TN cell"/>
          <p:cNvSpPr/>
          <p:nvPr/>
        </p:nvSpPr>
        <p:spPr>
          <a:xfrm>
            <a:off x="1828800" y="1783080"/>
            <a:ext cx="1691640" cy="1325880"/>
          </a:xfrm>
          <a:prstGeom prst="roundRect">
            <a:avLst>
              <a:gd name="adj" fmla="val 827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10" name="FP cell"/>
          <p:cNvSpPr/>
          <p:nvPr/>
        </p:nvSpPr>
        <p:spPr>
          <a:xfrm>
            <a:off x="3611880" y="1783080"/>
            <a:ext cx="169164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13" name="FN cell"/>
          <p:cNvSpPr/>
          <p:nvPr/>
        </p:nvSpPr>
        <p:spPr>
          <a:xfrm>
            <a:off x="1828800" y="3200400"/>
            <a:ext cx="169164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2880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16" name="TP cell"/>
          <p:cNvSpPr/>
          <p:nvPr/>
        </p:nvSpPr>
        <p:spPr>
          <a:xfrm>
            <a:off x="3611880" y="3200400"/>
            <a:ext cx="1691640" cy="132588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069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19" name="TN = 919"/>
          <p:cNvSpPr/>
          <p:nvPr/>
        </p:nvSpPr>
        <p:spPr>
          <a:xfrm>
            <a:off x="5577840" y="1280160"/>
            <a:ext cx="301752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TN = 919 accent"/>
          <p:cNvSpPr/>
          <p:nvPr/>
        </p:nvSpPr>
        <p:spPr>
          <a:xfrm>
            <a:off x="5577840" y="1389888"/>
            <a:ext cx="73152" cy="5303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06440" y="128016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919: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customers who stayed.</a:t>
            </a:r>
            <a:endParaRPr lang="en-US" sz="1400" dirty="0"/>
          </a:p>
        </p:txBody>
      </p:sp>
      <p:sp>
        <p:nvSpPr>
          <p:cNvPr id="22" name="FP = 116"/>
          <p:cNvSpPr/>
          <p:nvPr/>
        </p:nvSpPr>
        <p:spPr>
          <a:xfrm>
            <a:off x="5577840" y="2121408"/>
            <a:ext cx="301752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3" name="FP = 116 accent"/>
          <p:cNvSpPr/>
          <p:nvPr/>
        </p:nvSpPr>
        <p:spPr>
          <a:xfrm>
            <a:off x="5577840" y="2231136"/>
            <a:ext cx="73152" cy="5303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06440" y="212140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116: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but were predicted to churn.</a:t>
            </a:r>
            <a:endParaRPr lang="en-US" sz="1400" dirty="0"/>
          </a:p>
        </p:txBody>
      </p:sp>
      <p:sp>
        <p:nvSpPr>
          <p:cNvPr id="25" name="FN = 172"/>
          <p:cNvSpPr/>
          <p:nvPr/>
        </p:nvSpPr>
        <p:spPr>
          <a:xfrm>
            <a:off x="5577840" y="2962656"/>
            <a:ext cx="301752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6" name="FN = 172 accent"/>
          <p:cNvSpPr/>
          <p:nvPr/>
        </p:nvSpPr>
        <p:spPr>
          <a:xfrm>
            <a:off x="5577840" y="3072384"/>
            <a:ext cx="73152" cy="5303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06440" y="296265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172: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but were predicted to stay.</a:t>
            </a:r>
            <a:endParaRPr lang="en-US" sz="1400" dirty="0"/>
          </a:p>
        </p:txBody>
      </p:sp>
      <p:sp>
        <p:nvSpPr>
          <p:cNvPr id="28" name="TP = 202"/>
          <p:cNvSpPr/>
          <p:nvPr/>
        </p:nvSpPr>
        <p:spPr>
          <a:xfrm>
            <a:off x="5577840" y="3803904"/>
            <a:ext cx="301752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9" name="TP = 202 accent"/>
          <p:cNvSpPr/>
          <p:nvPr/>
        </p:nvSpPr>
        <p:spPr>
          <a:xfrm>
            <a:off x="5577840" y="3913632"/>
            <a:ext cx="73152" cy="5303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06440" y="380390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202: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churners.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Interpretation</a:t>
            </a:r>
            <a:endParaRPr lang="en-US" sz="3400" dirty="0"/>
          </a:p>
        </p:txBody>
      </p:sp>
      <p:sp>
        <p:nvSpPr>
          <p:cNvPr id="3" name="False Positive"/>
          <p:cNvSpPr/>
          <p:nvPr/>
        </p:nvSpPr>
        <p:spPr>
          <a:xfrm>
            <a:off x="548640" y="1280160"/>
            <a:ext cx="393192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False Positive icon circle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5" name="Image 0" descr="False Positiv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 customer is flagged as a churner, so the company may spend money on an unnecessary retention offer.</a:t>
            </a:r>
            <a:endParaRPr lang="en-US" sz="1400" dirty="0"/>
          </a:p>
        </p:txBody>
      </p:sp>
      <p:sp>
        <p:nvSpPr>
          <p:cNvPr id="8" name="False Negative"/>
          <p:cNvSpPr/>
          <p:nvPr/>
        </p:nvSpPr>
        <p:spPr>
          <a:xfrm>
            <a:off x="4663440" y="1280160"/>
            <a:ext cx="393192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False Negative icon circle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Image 1" descr="False Negativ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Negative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148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churner is missed, so the company may lose the customer without taking preventive action.</a:t>
            </a:r>
            <a:endParaRPr lang="en-US" sz="1400" dirty="0"/>
          </a:p>
        </p:txBody>
      </p:sp>
      <p:sp>
        <p:nvSpPr>
          <p:cNvPr id="13" name="Takeaway card"/>
          <p:cNvSpPr/>
          <p:nvPr/>
        </p:nvSpPr>
        <p:spPr>
          <a:xfrm>
            <a:off x="548640" y="3429000"/>
            <a:ext cx="80467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14" name="Takeaway accent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34290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retention, false negatives can be more costly than false positives.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977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improving churn recall is a key business objective.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Threshold Tuning for Reliability</a:t>
            </a:r>
            <a:endParaRPr lang="en-US" sz="3400" dirty="0"/>
          </a:p>
        </p:txBody>
      </p:sp>
      <p:sp>
        <p:nvSpPr>
          <p:cNvPr id="3" name="Chart card"/>
          <p:cNvSpPr/>
          <p:nvPr/>
        </p:nvSpPr>
        <p:spPr>
          <a:xfrm>
            <a:off x="548640" y="1280160"/>
            <a:ext cx="384048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inding 1"/>
          <p:cNvSpPr/>
          <p:nvPr/>
        </p:nvSpPr>
        <p:spPr>
          <a:xfrm>
            <a:off x="4617720" y="1280160"/>
            <a:ext cx="3977640" cy="576072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6" name="Finding accent 1"/>
          <p:cNvSpPr/>
          <p:nvPr/>
        </p:nvSpPr>
        <p:spPr>
          <a:xfrm>
            <a:off x="4617720" y="1371600"/>
            <a:ext cx="64008" cy="3931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46320" y="1280160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threshold from 0.50 to 0.40 increased churn recall from 54% to 65%.</a:t>
            </a:r>
            <a:endParaRPr lang="en-US" sz="1400" dirty="0"/>
          </a:p>
        </p:txBody>
      </p:sp>
      <p:sp>
        <p:nvSpPr>
          <p:cNvPr id="8" name="Finding 2"/>
          <p:cNvSpPr/>
          <p:nvPr/>
        </p:nvSpPr>
        <p:spPr>
          <a:xfrm>
            <a:off x="4617720" y="1952244"/>
            <a:ext cx="3977640" cy="576072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Finding accent 2"/>
          <p:cNvSpPr/>
          <p:nvPr/>
        </p:nvSpPr>
        <p:spPr>
          <a:xfrm>
            <a:off x="4617720" y="2043684"/>
            <a:ext cx="64008" cy="3931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95224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churners increased from 202 to 244.</a:t>
            </a:r>
            <a:endParaRPr lang="en-US" sz="1400" dirty="0"/>
          </a:p>
        </p:txBody>
      </p:sp>
      <p:sp>
        <p:nvSpPr>
          <p:cNvPr id="11" name="Finding 3"/>
          <p:cNvSpPr/>
          <p:nvPr/>
        </p:nvSpPr>
        <p:spPr>
          <a:xfrm>
            <a:off x="4617720" y="2624328"/>
            <a:ext cx="3977640" cy="576072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Finding accent 3"/>
          <p:cNvSpPr/>
          <p:nvPr/>
        </p:nvSpPr>
        <p:spPr>
          <a:xfrm>
            <a:off x="4617720" y="2715768"/>
            <a:ext cx="64008" cy="3931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0" y="262432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churners decreased from 172 to 130.</a:t>
            </a:r>
            <a:endParaRPr lang="en-US" sz="1400" dirty="0"/>
          </a:p>
        </p:txBody>
      </p:sp>
      <p:sp>
        <p:nvSpPr>
          <p:cNvPr id="14" name="Finding 4"/>
          <p:cNvSpPr/>
          <p:nvPr/>
        </p:nvSpPr>
        <p:spPr>
          <a:xfrm>
            <a:off x="4617720" y="3296412"/>
            <a:ext cx="3977640" cy="576072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5" name="Finding accent 4"/>
          <p:cNvSpPr/>
          <p:nvPr/>
        </p:nvSpPr>
        <p:spPr>
          <a:xfrm>
            <a:off x="4617720" y="3387852"/>
            <a:ext cx="64008" cy="3931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46320" y="3296412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false positives increased from 116 to 183.</a:t>
            </a:r>
            <a:endParaRPr lang="en-US" sz="1400" dirty="0"/>
          </a:p>
        </p:txBody>
      </p:sp>
      <p:sp>
        <p:nvSpPr>
          <p:cNvPr id="17" name="Finding 5"/>
          <p:cNvSpPr/>
          <p:nvPr/>
        </p:nvSpPr>
        <p:spPr>
          <a:xfrm>
            <a:off x="4617720" y="3968496"/>
            <a:ext cx="3977640" cy="576072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3968496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retention-focused strategy, 0.40 is more suitable.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Prediction for an Unseen Customer</a:t>
            </a:r>
            <a:endParaRPr lang="en-US" sz="3400" dirty="0"/>
          </a:p>
        </p:txBody>
      </p:sp>
      <p:sp>
        <p:nvSpPr>
          <p:cNvPr id="3" name="Estimated churn probability"/>
          <p:cNvSpPr/>
          <p:nvPr/>
        </p:nvSpPr>
        <p:spPr>
          <a:xfrm>
            <a:off x="5486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46.16%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churn probability</a:t>
            </a:r>
            <a:endParaRPr lang="en-US" sz="1400" dirty="0"/>
          </a:p>
        </p:txBody>
      </p:sp>
      <p:sp>
        <p:nvSpPr>
          <p:cNvPr id="6" name="Selected threshold"/>
          <p:cNvSpPr/>
          <p:nvPr/>
        </p:nvSpPr>
        <p:spPr>
          <a:xfrm>
            <a:off x="32918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threshold</a:t>
            </a:r>
            <a:endParaRPr lang="en-US" sz="1400" dirty="0"/>
          </a:p>
        </p:txBody>
      </p:sp>
      <p:sp>
        <p:nvSpPr>
          <p:cNvPr id="9" name="Final prediction"/>
          <p:cNvSpPr/>
          <p:nvPr/>
        </p:nvSpPr>
        <p:spPr>
          <a:xfrm>
            <a:off x="60350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400" dirty="0"/>
          </a:p>
        </p:txBody>
      </p:sp>
      <p:sp>
        <p:nvSpPr>
          <p:cNvPr id="12" name="Probability gauge card"/>
          <p:cNvSpPr/>
          <p:nvPr/>
        </p:nvSpPr>
        <p:spPr>
          <a:xfrm>
            <a:off x="548640" y="2651760"/>
            <a:ext cx="80467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Gauge track"/>
          <p:cNvSpPr/>
          <p:nvPr/>
        </p:nvSpPr>
        <p:spPr>
          <a:xfrm>
            <a:off x="914400" y="3108960"/>
            <a:ext cx="7315200" cy="256032"/>
          </a:xfrm>
          <a:prstGeom prst="roundRect">
            <a:avLst>
              <a:gd name="adj" fmla="val 50000"/>
            </a:avLst>
          </a:prstGeom>
          <a:solidFill>
            <a:schemeClr val="accent5">
              <a:alpha val="40000"/>
            </a:schemeClr>
          </a:solidFill>
          <a:ln/>
        </p:spPr>
      </p:sp>
      <p:sp>
        <p:nvSpPr>
          <p:cNvPr id="14" name="Gauge fill"/>
          <p:cNvSpPr/>
          <p:nvPr/>
        </p:nvSpPr>
        <p:spPr>
          <a:xfrm>
            <a:off x="914400" y="3108960"/>
            <a:ext cx="3376696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hreshold marker"/>
          <p:cNvSpPr/>
          <p:nvPr/>
        </p:nvSpPr>
        <p:spPr>
          <a:xfrm>
            <a:off x="3822192" y="3017520"/>
            <a:ext cx="36576" cy="43891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40%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99656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 46.16%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19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419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0" name="Interpretation card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46.16% is above the selected 40% threshold, the customer is classified as Likely to Churn. A proactive retention offer could be considered for this customer.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Final Conclusion</a:t>
            </a:r>
            <a:endParaRPr lang="en-US" sz="3400" dirty="0"/>
          </a:p>
        </p:txBody>
      </p:sp>
      <p:sp>
        <p:nvSpPr>
          <p:cNvPr id="3" name="Conclusion row 1"/>
          <p:cNvSpPr/>
          <p:nvPr/>
        </p:nvSpPr>
        <p:spPr>
          <a:xfrm>
            <a:off x="548640" y="1280160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4" name="Check circle 1"/>
          <p:cNvSpPr/>
          <p:nvPr/>
        </p:nvSpPr>
        <p:spPr>
          <a:xfrm>
            <a:off x="731520" y="145389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45336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successfully predicts customer churn probability.</a:t>
            </a:r>
            <a:endParaRPr lang="en-US" sz="1600" dirty="0"/>
          </a:p>
        </p:txBody>
      </p:sp>
      <p:sp>
        <p:nvSpPr>
          <p:cNvPr id="7" name="Conclusion row 2"/>
          <p:cNvSpPr/>
          <p:nvPr/>
        </p:nvSpPr>
        <p:spPr>
          <a:xfrm>
            <a:off x="548640" y="2103120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8" name="Check circle 2"/>
          <p:cNvSpPr/>
          <p:nvPr/>
        </p:nvSpPr>
        <p:spPr>
          <a:xfrm>
            <a:off x="731520" y="22768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Check 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68296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10312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79.56% accuracy at the default 0.50 threshold.</a:t>
            </a:r>
            <a:endParaRPr lang="en-US" sz="1600" dirty="0"/>
          </a:p>
        </p:txBody>
      </p:sp>
      <p:sp>
        <p:nvSpPr>
          <p:cNvPr id="11" name="Conclusion row 3"/>
          <p:cNvSpPr/>
          <p:nvPr/>
        </p:nvSpPr>
        <p:spPr>
          <a:xfrm>
            <a:off x="548640" y="2926080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12" name="Check circle 3"/>
          <p:cNvSpPr/>
          <p:nvPr/>
        </p:nvSpPr>
        <p:spPr>
          <a:xfrm>
            <a:off x="731520" y="30998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9125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9260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to 0.40 improved churn recall from 54% to 65%.</a:t>
            </a:r>
            <a:endParaRPr lang="en-US" sz="1600" dirty="0"/>
          </a:p>
        </p:txBody>
      </p:sp>
      <p:sp>
        <p:nvSpPr>
          <p:cNvPr id="15" name="Conclusion row 4"/>
          <p:cNvSpPr/>
          <p:nvPr/>
        </p:nvSpPr>
        <p:spPr>
          <a:xfrm>
            <a:off x="548640" y="3749040"/>
            <a:ext cx="8046720" cy="713232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16" name="Check circle 4"/>
          <p:cNvSpPr/>
          <p:nvPr/>
        </p:nvSpPr>
        <p:spPr>
          <a:xfrm>
            <a:off x="731520" y="39227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Check 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7490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can help the telecom company identify high-risk customers and support targeted retention strategies.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Results at a Glance</a:t>
            </a:r>
            <a:endParaRPr lang="en-US" sz="3400" dirty="0"/>
          </a:p>
        </p:txBody>
      </p:sp>
      <p:sp>
        <p:nvSpPr>
          <p:cNvPr id="3" name="Customers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Customers dot"/>
          <p:cNvSpPr/>
          <p:nvPr/>
        </p:nvSpPr>
        <p:spPr>
          <a:xfrm>
            <a:off x="731520" y="148132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389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800" dirty="0"/>
          </a:p>
        </p:txBody>
      </p:sp>
      <p:sp>
        <p:nvSpPr>
          <p:cNvPr id="7" name="Churn rate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Churn rate dot"/>
          <p:cNvSpPr/>
          <p:nvPr/>
        </p:nvSpPr>
        <p:spPr>
          <a:xfrm>
            <a:off x="2788920" y="14813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81528" y="1389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2800" dirty="0"/>
          </a:p>
        </p:txBody>
      </p:sp>
      <p:sp>
        <p:nvSpPr>
          <p:cNvPr id="11" name="Accuracy (0.50)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Accuracy (0.50) dot"/>
          <p:cNvSpPr/>
          <p:nvPr/>
        </p:nvSpPr>
        <p:spPr>
          <a:xfrm>
            <a:off x="4846320" y="148132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38928" y="1389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(0.50)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79.56%</a:t>
            </a:r>
            <a:endParaRPr lang="en-US" sz="2800" dirty="0"/>
          </a:p>
        </p:txBody>
      </p:sp>
      <p:sp>
        <p:nvSpPr>
          <p:cNvPr id="15" name="Churn recall (0.50)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Churn recall (0.50) dot"/>
          <p:cNvSpPr/>
          <p:nvPr/>
        </p:nvSpPr>
        <p:spPr>
          <a:xfrm>
            <a:off x="6903720" y="14813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96328" y="1389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 (0.50)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800" dirty="0"/>
          </a:p>
        </p:txBody>
      </p:sp>
      <p:sp>
        <p:nvSpPr>
          <p:cNvPr id="19" name="Churn recall (0.40)"/>
          <p:cNvSpPr/>
          <p:nvPr/>
        </p:nvSpPr>
        <p:spPr>
          <a:xfrm>
            <a:off x="5486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Churn recall (0.40) dot"/>
          <p:cNvSpPr/>
          <p:nvPr/>
        </p:nvSpPr>
        <p:spPr>
          <a:xfrm>
            <a:off x="731520" y="321868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31272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 (0.40)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800" dirty="0"/>
          </a:p>
        </p:txBody>
      </p:sp>
      <p:sp>
        <p:nvSpPr>
          <p:cNvPr id="23" name="Churners caught"/>
          <p:cNvSpPr/>
          <p:nvPr/>
        </p:nvSpPr>
        <p:spPr>
          <a:xfrm>
            <a:off x="26060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4" name="Churners caught dot"/>
          <p:cNvSpPr/>
          <p:nvPr/>
        </p:nvSpPr>
        <p:spPr>
          <a:xfrm>
            <a:off x="2788920" y="3218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81528" y="31272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 → 244</a:t>
            </a:r>
            <a:endParaRPr lang="en-US" sz="2000" dirty="0"/>
          </a:p>
        </p:txBody>
      </p:sp>
      <p:sp>
        <p:nvSpPr>
          <p:cNvPr id="27" name="Missed churners"/>
          <p:cNvSpPr/>
          <p:nvPr/>
        </p:nvSpPr>
        <p:spPr>
          <a:xfrm>
            <a:off x="46634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8" name="Missed churners dot"/>
          <p:cNvSpPr/>
          <p:nvPr/>
        </p:nvSpPr>
        <p:spPr>
          <a:xfrm>
            <a:off x="4846320" y="3218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38928" y="31272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churners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 → 130</a:t>
            </a:r>
            <a:endParaRPr lang="en-US" sz="2000" dirty="0"/>
          </a:p>
        </p:txBody>
      </p:sp>
      <p:sp>
        <p:nvSpPr>
          <p:cNvPr id="31" name="Unseen customer"/>
          <p:cNvSpPr/>
          <p:nvPr/>
        </p:nvSpPr>
        <p:spPr>
          <a:xfrm>
            <a:off x="67208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32" name="Unseen customer dot"/>
          <p:cNvSpPr/>
          <p:nvPr/>
        </p:nvSpPr>
        <p:spPr>
          <a:xfrm>
            <a:off x="6903720" y="321868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96328" y="31272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customer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46.16% · Churn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Signal">
  <a:themeElements>
    <a:clrScheme name="Ad Signal">
      <a:dk1>
        <a:srgbClr val="1A1A2E"/>
      </a:dk1>
      <a:lt1>
        <a:srgbClr val="FFFFFF"/>
      </a:lt1>
      <a:dk2>
        <a:srgbClr val="2A2B5E"/>
      </a:dk2>
      <a:lt2>
        <a:srgbClr val="F6F5FB"/>
      </a:lt2>
      <a:accent1>
        <a:srgbClr val="FF6B4A"/>
      </a:accent1>
      <a:accent2>
        <a:srgbClr val="2EC4B6"/>
      </a:accent2>
      <a:accent3>
        <a:srgbClr val="FFB703"/>
      </a:accent3>
      <a:accent4>
        <a:srgbClr val="6C63FF"/>
      </a:accent4>
      <a:accent5>
        <a:srgbClr val="8D8FB5"/>
      </a:accent5>
      <a:accent6>
        <a:srgbClr val="3A3D7A"/>
      </a:accent6>
      <a:hlink>
        <a:srgbClr val="6C63FF"/>
      </a:hlink>
      <a:folHlink>
        <a:srgbClr val="8D8FB5"/>
      </a:folHlink>
    </a:clrScheme>
    <a:fontScheme name="Ad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Sales Prediction — Multiple Linear Regression</dc:title>
  <dc:subject>PptxGenJS Presentation</dc:subject>
  <dc:creator>PptxGenJS</dc:creator>
  <cp:lastModifiedBy>PptxGenJS</cp:lastModifiedBy>
  <cp:revision>1</cp:revision>
  <dcterms:created xsi:type="dcterms:W3CDTF">2026-10-08T10:04:38Z</dcterms:created>
  <dcterms:modified xsi:type="dcterms:W3CDTF">2026-10-08T10:04:38Z</dcterms:modified>
</cp:coreProperties>
</file>